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648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2A6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199E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62A6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199E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62A6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62A6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1273555"/>
            <a:ext cx="678180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62A600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1703196"/>
            <a:ext cx="7315200" cy="4725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199E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cker/awesome-compose/tree/master/portainer" TargetMode="External"/><Relationship Id="rId2" Type="http://schemas.openxmlformats.org/officeDocument/2006/relationships/hyperlink" Target="https://www.digitalocean.com/community/tutorials/how-to-install-and-use-docker-compose-on-ubuntu-20-04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ocker/awesome-compose/tree/master/nextcloud-postgres" TargetMode="External"/><Relationship Id="rId2" Type="http://schemas.openxmlformats.org/officeDocument/2006/relationships/hyperlink" Target="https://nextcloud.com/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hyperlink" Target="https://docs.docker.com/compose/compose-file/compose-file-v3/#depends_on" TargetMode="External"/><Relationship Id="rId4" Type="http://schemas.openxmlformats.org/officeDocument/2006/relationships/hyperlink" Target="http://node1-ip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docker.com/engine/swarm/stack-deploy/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docker.com/compose/compose-file/deploy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02061" y="4058411"/>
            <a:ext cx="48456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00" dirty="0">
                <a:solidFill>
                  <a:srgbClr val="FF5621"/>
                </a:solidFill>
                <a:latin typeface="Palatino Linotype"/>
                <a:cs typeface="Palatino Linotype"/>
              </a:rPr>
              <a:t>Secure</a:t>
            </a:r>
            <a:r>
              <a:rPr sz="3600" b="1" spc="-50" dirty="0">
                <a:solidFill>
                  <a:srgbClr val="FF5621"/>
                </a:solidFill>
                <a:latin typeface="Palatino Linotype"/>
                <a:cs typeface="Palatino Linotype"/>
              </a:rPr>
              <a:t> </a:t>
            </a:r>
            <a:r>
              <a:rPr sz="3600" b="1" spc="-75" dirty="0">
                <a:solidFill>
                  <a:srgbClr val="FF5621"/>
                </a:solidFill>
                <a:latin typeface="Palatino Linotype"/>
                <a:cs typeface="Palatino Linotype"/>
              </a:rPr>
              <a:t>DevOps</a:t>
            </a:r>
            <a:r>
              <a:rPr sz="3600" b="1" spc="-45" dirty="0">
                <a:solidFill>
                  <a:srgbClr val="FF5621"/>
                </a:solidFill>
                <a:latin typeface="Palatino Linotype"/>
                <a:cs typeface="Palatino Linotype"/>
              </a:rPr>
              <a:t> </a:t>
            </a:r>
            <a:r>
              <a:rPr sz="3600" b="1" spc="225" dirty="0">
                <a:solidFill>
                  <a:srgbClr val="FF5621"/>
                </a:solidFill>
                <a:latin typeface="Palatino Linotype"/>
                <a:cs typeface="Palatino Linotype"/>
              </a:rPr>
              <a:t>-</a:t>
            </a:r>
            <a:r>
              <a:rPr sz="3600" b="1" spc="-45" dirty="0">
                <a:solidFill>
                  <a:srgbClr val="FF5621"/>
                </a:solidFill>
                <a:latin typeface="Palatino Linotype"/>
                <a:cs typeface="Palatino Linotype"/>
              </a:rPr>
              <a:t> </a:t>
            </a:r>
            <a:r>
              <a:rPr sz="3600" b="1" dirty="0">
                <a:solidFill>
                  <a:srgbClr val="FF5621"/>
                </a:solidFill>
                <a:latin typeface="Palatino Linotype"/>
                <a:cs typeface="Palatino Linotype"/>
              </a:rPr>
              <a:t>Lab</a:t>
            </a:r>
            <a:r>
              <a:rPr sz="3600" b="1" spc="-45" dirty="0">
                <a:solidFill>
                  <a:srgbClr val="FF5621"/>
                </a:solidFill>
                <a:latin typeface="Palatino Linotype"/>
                <a:cs typeface="Palatino Linotype"/>
              </a:rPr>
              <a:t> </a:t>
            </a:r>
            <a:r>
              <a:rPr sz="3600" b="1" spc="180" dirty="0">
                <a:solidFill>
                  <a:srgbClr val="FF5621"/>
                </a:solidFill>
                <a:latin typeface="Palatino Linotype"/>
                <a:cs typeface="Palatino Linotype"/>
              </a:rPr>
              <a:t>4</a:t>
            </a:r>
            <a:endParaRPr sz="36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696" y="4921634"/>
            <a:ext cx="5764530" cy="1945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62A600"/>
                </a:solidFill>
                <a:latin typeface="Palatino Linotype"/>
                <a:cs typeface="Palatino Linotype"/>
              </a:rPr>
              <a:t>Overview</a:t>
            </a:r>
            <a:endParaRPr sz="18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this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lab,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will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familiarise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yourself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Swarm.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</a:pPr>
            <a:endParaRPr sz="14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800" b="1" spc="65" dirty="0">
                <a:solidFill>
                  <a:srgbClr val="62A600"/>
                </a:solidFill>
                <a:latin typeface="Palatino Linotype"/>
                <a:cs typeface="Palatino Linotype"/>
              </a:rPr>
              <a:t>What</a:t>
            </a:r>
            <a:r>
              <a:rPr sz="1800" b="1" spc="100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62A600"/>
                </a:solidFill>
                <a:latin typeface="Palatino Linotype"/>
                <a:cs typeface="Palatino Linotype"/>
              </a:rPr>
              <a:t>you</a:t>
            </a:r>
            <a:r>
              <a:rPr sz="1800" b="1" spc="100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62A600"/>
                </a:solidFill>
                <a:latin typeface="Palatino Linotype"/>
                <a:cs typeface="Palatino Linotype"/>
              </a:rPr>
              <a:t>need</a:t>
            </a:r>
            <a:r>
              <a:rPr sz="1800" b="1" spc="95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62A600"/>
                </a:solidFill>
                <a:latin typeface="Palatino Linotype"/>
                <a:cs typeface="Palatino Linotype"/>
              </a:rPr>
              <a:t>to</a:t>
            </a:r>
            <a:r>
              <a:rPr sz="1800" b="1" spc="100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62A600"/>
                </a:solidFill>
                <a:latin typeface="Palatino Linotype"/>
                <a:cs typeface="Palatino Linotype"/>
              </a:rPr>
              <a:t>complete</a:t>
            </a:r>
            <a:r>
              <a:rPr sz="1800" b="1" spc="100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dirty="0">
                <a:solidFill>
                  <a:srgbClr val="62A600"/>
                </a:solidFill>
                <a:latin typeface="Palatino Linotype"/>
                <a:cs typeface="Palatino Linotype"/>
              </a:rPr>
              <a:t>this</a:t>
            </a:r>
            <a:r>
              <a:rPr sz="1800" b="1" spc="100" dirty="0">
                <a:solidFill>
                  <a:srgbClr val="62A600"/>
                </a:solidFill>
                <a:latin typeface="Palatino Linotype"/>
                <a:cs typeface="Palatino Linotype"/>
              </a:rPr>
              <a:t> </a:t>
            </a:r>
            <a:r>
              <a:rPr sz="1800" b="1" spc="-10" dirty="0">
                <a:solidFill>
                  <a:srgbClr val="62A600"/>
                </a:solidFill>
                <a:latin typeface="Palatino Linotype"/>
                <a:cs typeface="Palatino Linotype"/>
              </a:rPr>
              <a:t>project</a:t>
            </a:r>
            <a:endParaRPr sz="1800">
              <a:latin typeface="Palatino Linotype"/>
              <a:cs typeface="Palatino Linotype"/>
            </a:endParaRPr>
          </a:p>
          <a:p>
            <a:pPr marL="469265" indent="-227965">
              <a:lnSpc>
                <a:spcPct val="100000"/>
              </a:lnSpc>
              <a:spcBef>
                <a:spcPts val="1639"/>
              </a:spcBef>
              <a:buAutoNum type="arabicPeriod"/>
              <a:tabLst>
                <a:tab pos="469265" algn="l"/>
              </a:tabLst>
            </a:pP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Linux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servers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running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Ubuntu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20.04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which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communicate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each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other</a:t>
            </a:r>
            <a:endParaRPr sz="120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Internet</a:t>
            </a:r>
            <a:r>
              <a:rPr sz="1200" spc="114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access</a:t>
            </a:r>
            <a:endParaRPr sz="12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704850"/>
            <a:ext cx="59436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63955" y="428879"/>
            <a:ext cx="93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solidFill>
                  <a:srgbClr val="ED0000"/>
                </a:solidFill>
                <a:latin typeface="Palatino Linotype"/>
                <a:cs typeface="Palatino Linotype"/>
              </a:rPr>
              <a:t>1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Tasks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5" dirty="0"/>
              <a:t>Task</a:t>
            </a:r>
            <a:r>
              <a:rPr spc="20" dirty="0"/>
              <a:t> </a:t>
            </a:r>
            <a:r>
              <a:rPr spc="-145" dirty="0"/>
              <a:t>1</a:t>
            </a:r>
            <a:r>
              <a:rPr spc="20" dirty="0"/>
              <a:t> </a:t>
            </a:r>
            <a:r>
              <a:rPr spc="85" dirty="0"/>
              <a:t>-</a:t>
            </a:r>
            <a:r>
              <a:rPr spc="20" dirty="0"/>
              <a:t> </a:t>
            </a:r>
            <a:r>
              <a:rPr spc="55" dirty="0"/>
              <a:t>Install</a:t>
            </a:r>
            <a:r>
              <a:rPr spc="20" dirty="0"/>
              <a:t> </a:t>
            </a:r>
            <a:r>
              <a:rPr dirty="0"/>
              <a:t>Docker</a:t>
            </a:r>
            <a:r>
              <a:rPr spc="20" dirty="0"/>
              <a:t> </a:t>
            </a:r>
            <a:r>
              <a:rPr spc="-10" dirty="0"/>
              <a:t>Compose</a:t>
            </a:r>
          </a:p>
          <a:p>
            <a:pPr marL="469265" indent="-227965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469265" algn="l"/>
              </a:tabLst>
            </a:pPr>
            <a:r>
              <a:rPr sz="1200" spc="60" dirty="0">
                <a:solidFill>
                  <a:srgbClr val="000000"/>
                </a:solidFill>
                <a:latin typeface="Gill Sans MT"/>
                <a:cs typeface="Gill Sans MT"/>
              </a:rPr>
              <a:t>Install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000000"/>
                </a:solidFill>
                <a:latin typeface="Gill Sans MT"/>
                <a:cs typeface="Gill Sans MT"/>
              </a:rPr>
              <a:t>latest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Docker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Compose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following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instructions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2"/>
              </a:rPr>
              <a:t>here</a:t>
            </a:r>
            <a:r>
              <a:rPr sz="1200" spc="-10" dirty="0">
                <a:solidFill>
                  <a:srgbClr val="000000"/>
                </a:solidFill>
                <a:latin typeface="Gill Sans MT"/>
                <a:cs typeface="Gill Sans MT"/>
              </a:rPr>
              <a:t>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Conﬁrm</a:t>
            </a:r>
            <a:r>
              <a:rPr sz="1200" spc="-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Compose</a:t>
            </a:r>
            <a:r>
              <a:rPr sz="1200" spc="-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14" dirty="0">
                <a:solidFill>
                  <a:srgbClr val="000000"/>
                </a:solidFill>
                <a:latin typeface="Gill Sans MT"/>
                <a:cs typeface="Gill Sans MT"/>
              </a:rPr>
              <a:t>has</a:t>
            </a:r>
            <a:r>
              <a:rPr sz="1200" spc="-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000000"/>
                </a:solidFill>
                <a:latin typeface="Gill Sans MT"/>
                <a:cs typeface="Gill Sans MT"/>
              </a:rPr>
              <a:t>been</a:t>
            </a:r>
            <a:r>
              <a:rPr sz="1200" spc="-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000000"/>
                </a:solidFill>
                <a:latin typeface="Gill Sans MT"/>
                <a:cs typeface="Gill Sans MT"/>
              </a:rPr>
              <a:t>installed</a:t>
            </a:r>
            <a:r>
              <a:rPr sz="1200" spc="-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000000"/>
                </a:solidFill>
                <a:latin typeface="Gill Sans MT"/>
                <a:cs typeface="Gill Sans MT"/>
              </a:rPr>
              <a:t>successfully</a:t>
            </a:r>
            <a:endParaRPr sz="12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000000"/>
                </a:solidFill>
                <a:latin typeface="Comic Sans MS"/>
                <a:cs typeface="Comic Sans MS"/>
              </a:rPr>
              <a:t>docker-compose </a:t>
            </a:r>
            <a:r>
              <a:rPr sz="1200" spc="-10" dirty="0">
                <a:solidFill>
                  <a:srgbClr val="000000"/>
                </a:solidFill>
                <a:latin typeface="Comic Sans MS"/>
                <a:cs typeface="Comic Sans MS"/>
              </a:rPr>
              <a:t>version</a:t>
            </a:r>
            <a:endParaRPr sz="1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</a:pPr>
            <a:endParaRPr sz="12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15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spc="75" dirty="0"/>
              <a:t>Task</a:t>
            </a:r>
            <a:r>
              <a:rPr spc="45" dirty="0"/>
              <a:t> </a:t>
            </a:r>
            <a:r>
              <a:rPr spc="80" dirty="0"/>
              <a:t>2</a:t>
            </a:r>
            <a:r>
              <a:rPr spc="45" dirty="0"/>
              <a:t> </a:t>
            </a:r>
            <a:r>
              <a:rPr spc="85" dirty="0"/>
              <a:t>-</a:t>
            </a:r>
            <a:r>
              <a:rPr spc="45" dirty="0"/>
              <a:t> </a:t>
            </a:r>
            <a:r>
              <a:rPr spc="10" dirty="0"/>
              <a:t>Setup</a:t>
            </a:r>
            <a:r>
              <a:rPr spc="45" dirty="0"/>
              <a:t> </a:t>
            </a:r>
            <a:r>
              <a:rPr spc="80" dirty="0"/>
              <a:t>a</a:t>
            </a:r>
            <a:r>
              <a:rPr spc="45" dirty="0"/>
              <a:t> </a:t>
            </a:r>
            <a:r>
              <a:rPr spc="10" dirty="0"/>
              <a:t>Portainer</a:t>
            </a:r>
            <a:r>
              <a:rPr spc="50" dirty="0"/>
              <a:t> </a:t>
            </a:r>
            <a:r>
              <a:rPr spc="90" dirty="0"/>
              <a:t>stack</a:t>
            </a:r>
            <a:r>
              <a:rPr spc="45" dirty="0"/>
              <a:t> </a:t>
            </a:r>
            <a:r>
              <a:rPr spc="50" dirty="0"/>
              <a:t>using</a:t>
            </a:r>
            <a:r>
              <a:rPr spc="45" dirty="0"/>
              <a:t> </a:t>
            </a:r>
            <a:r>
              <a:rPr spc="10" dirty="0"/>
              <a:t>Docker</a:t>
            </a:r>
            <a:r>
              <a:rPr spc="45" dirty="0"/>
              <a:t> </a:t>
            </a:r>
            <a:r>
              <a:rPr spc="-10" dirty="0"/>
              <a:t>Compose</a:t>
            </a:r>
          </a:p>
          <a:p>
            <a:pPr marL="469265" indent="-227965">
              <a:lnSpc>
                <a:spcPct val="100000"/>
              </a:lnSpc>
              <a:spcBef>
                <a:spcPts val="1045"/>
              </a:spcBef>
              <a:buAutoNum type="arabicPeriod"/>
              <a:tabLst>
                <a:tab pos="469265" algn="l"/>
              </a:tabLst>
            </a:pP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Download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portainer.zip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from</a:t>
            </a:r>
            <a:r>
              <a:rPr sz="1200" spc="3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000000"/>
                </a:solidFill>
                <a:latin typeface="Gill Sans MT"/>
                <a:cs typeface="Gill Sans MT"/>
              </a:rPr>
              <a:t>Blackboard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Module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4</a:t>
            </a:r>
            <a:r>
              <a:rPr sz="1200" spc="3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000000"/>
                </a:solidFill>
                <a:latin typeface="Gill Sans MT"/>
                <a:cs typeface="Gill Sans MT"/>
              </a:rPr>
              <a:t>and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extract</a:t>
            </a:r>
            <a:r>
              <a:rPr sz="1200" spc="3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content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3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000000"/>
                </a:solidFill>
                <a:latin typeface="Gill Sans MT"/>
                <a:cs typeface="Gill Sans MT"/>
              </a:rPr>
              <a:t>a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directory</a:t>
            </a:r>
            <a:r>
              <a:rPr sz="1200" spc="3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on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your</a:t>
            </a:r>
            <a:r>
              <a:rPr sz="1200" spc="3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40" dirty="0">
                <a:solidFill>
                  <a:srgbClr val="000000"/>
                </a:solidFill>
                <a:latin typeface="Gill Sans MT"/>
                <a:cs typeface="Gill Sans MT"/>
              </a:rPr>
              <a:t>host.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Change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directory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where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you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extracted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context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 of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000000"/>
                </a:solidFill>
                <a:latin typeface="Gill Sans MT"/>
                <a:cs typeface="Gill Sans MT"/>
              </a:rPr>
              <a:t>`portainer.zip`.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Open</a:t>
            </a:r>
            <a:r>
              <a:rPr sz="1200" spc="1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1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Compose</a:t>
            </a:r>
            <a:r>
              <a:rPr sz="1200" spc="1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instructions</a:t>
            </a:r>
            <a:r>
              <a:rPr sz="1200" spc="1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u="heavy" spc="-2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3"/>
              </a:rPr>
              <a:t>here</a:t>
            </a:r>
            <a:r>
              <a:rPr sz="1200" spc="-20" dirty="0">
                <a:solidFill>
                  <a:srgbClr val="000000"/>
                </a:solidFill>
                <a:latin typeface="Gill Sans MT"/>
                <a:cs typeface="Gill Sans MT"/>
              </a:rPr>
              <a:t>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Review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Compose</a:t>
            </a:r>
            <a:r>
              <a:rPr sz="1200" spc="10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YAML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ﬁle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000000"/>
                </a:solidFill>
                <a:latin typeface="Gill Sans MT"/>
                <a:cs typeface="Gill Sans MT"/>
              </a:rPr>
              <a:t>and</a:t>
            </a:r>
            <a:r>
              <a:rPr sz="1200" spc="10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follow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instructions</a:t>
            </a:r>
            <a:r>
              <a:rPr sz="1200" spc="10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start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10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Docker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stack.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spc="-20" dirty="0">
                <a:solidFill>
                  <a:srgbClr val="000000"/>
                </a:solidFill>
                <a:latin typeface="Gill Sans MT"/>
                <a:cs typeface="Gill Sans MT"/>
              </a:rPr>
              <a:t>Try</a:t>
            </a:r>
            <a:r>
              <a:rPr sz="1200" spc="1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100" dirty="0">
                <a:solidFill>
                  <a:srgbClr val="000000"/>
                </a:solidFill>
                <a:latin typeface="Gill Sans MT"/>
                <a:cs typeface="Gill Sans MT"/>
              </a:rPr>
              <a:t>accessing</a:t>
            </a:r>
            <a:r>
              <a:rPr sz="1200" spc="1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Portainer</a:t>
            </a:r>
            <a:r>
              <a:rPr sz="1200" spc="1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on</a:t>
            </a:r>
            <a:r>
              <a:rPr sz="1200" spc="1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http://</a:t>
            </a:r>
            <a:r>
              <a:rPr lang="en-AU"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localhost</a:t>
            </a:r>
            <a:r>
              <a:rPr sz="12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:9000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Use</a:t>
            </a:r>
            <a:r>
              <a:rPr sz="120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Docker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CLI</a:t>
            </a:r>
            <a:r>
              <a:rPr sz="120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000000"/>
                </a:solidFill>
                <a:latin typeface="Gill Sans MT"/>
                <a:cs typeface="Gill Sans MT"/>
              </a:rPr>
              <a:t>inspect</a:t>
            </a:r>
            <a:r>
              <a:rPr sz="120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Nextcloud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000000"/>
                </a:solidFill>
                <a:latin typeface="Gill Sans MT"/>
                <a:cs typeface="Gill Sans MT"/>
              </a:rPr>
              <a:t>services</a:t>
            </a:r>
            <a:r>
              <a:rPr sz="120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1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understand</a:t>
            </a:r>
            <a:r>
              <a:rPr sz="1200" spc="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about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AutoNum type="alphaLcPeriod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volumes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uses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AutoNum type="alphaLcPeriod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network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setup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(port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mapping,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etc)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AutoNum type="alphaLcPeriod"/>
              <a:tabLst>
                <a:tab pos="926465" algn="l"/>
              </a:tabLst>
            </a:pP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options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such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45" dirty="0">
                <a:latin typeface="Gill Sans MT"/>
                <a:cs typeface="Gill Sans MT"/>
              </a:rPr>
              <a:t>as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`restart`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Use</a:t>
            </a:r>
            <a:r>
              <a:rPr sz="1200" spc="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Docker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0000"/>
                </a:solidFill>
                <a:latin typeface="Gill Sans MT"/>
                <a:cs typeface="Gill Sans MT"/>
              </a:rPr>
              <a:t>Compose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CLI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to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interact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with</a:t>
            </a:r>
            <a:r>
              <a:rPr sz="1200" spc="45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0000"/>
                </a:solidFill>
                <a:latin typeface="Gill Sans MT"/>
                <a:cs typeface="Gill Sans MT"/>
              </a:rPr>
              <a:t>the</a:t>
            </a:r>
            <a:r>
              <a:rPr sz="1200" spc="40" dirty="0">
                <a:solidFill>
                  <a:srgbClr val="000000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000000"/>
                </a:solidFill>
                <a:latin typeface="Gill Sans MT"/>
                <a:cs typeface="Gill Sans MT"/>
              </a:rPr>
              <a:t>stack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AutoNum type="alphaLcPeriod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Tail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standard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out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40" dirty="0">
                <a:latin typeface="Gill Sans MT"/>
                <a:cs typeface="Gill Sans MT"/>
              </a:rPr>
              <a:t>log</a:t>
            </a:r>
            <a:endParaRPr sz="1200" dirty="0">
              <a:latin typeface="Gill Sans MT"/>
              <a:cs typeface="Gill Sans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solidFill>
                  <a:srgbClr val="000000"/>
                </a:solidFill>
                <a:latin typeface="Comic Sans MS"/>
                <a:cs typeface="Comic Sans MS"/>
              </a:rPr>
              <a:t>docker-compose logs -</a:t>
            </a:r>
            <a:r>
              <a:rPr sz="1200" spc="-50" dirty="0">
                <a:solidFill>
                  <a:srgbClr val="000000"/>
                </a:solidFill>
                <a:latin typeface="Comic Sans MS"/>
                <a:cs typeface="Comic Sans MS"/>
              </a:rPr>
              <a:t>f</a:t>
            </a:r>
            <a:endParaRPr sz="1200" dirty="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3925" y="784479"/>
            <a:ext cx="5943599" cy="47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6765" y="428879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ED0000"/>
                </a:solidFill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045971"/>
            <a:ext cx="8120380" cy="5944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0199EC"/>
                </a:solidFill>
                <a:latin typeface="Palatino Linotype"/>
                <a:cs typeface="Palatino Linotype"/>
              </a:rPr>
              <a:t>Task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60" dirty="0">
                <a:solidFill>
                  <a:srgbClr val="0199EC"/>
                </a:solidFill>
                <a:latin typeface="Palatino Linotype"/>
                <a:cs typeface="Palatino Linotype"/>
              </a:rPr>
              <a:t>3</a:t>
            </a:r>
            <a:r>
              <a:rPr sz="1600" spc="20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85" dirty="0">
                <a:solidFill>
                  <a:srgbClr val="0199EC"/>
                </a:solidFill>
                <a:latin typeface="Palatino Linotype"/>
                <a:cs typeface="Palatino Linotype"/>
              </a:rPr>
              <a:t>-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solidFill>
                  <a:srgbClr val="0199EC"/>
                </a:solidFill>
                <a:latin typeface="Palatino Linotype"/>
                <a:cs typeface="Palatino Linotype"/>
              </a:rPr>
              <a:t>Setup</a:t>
            </a:r>
            <a:r>
              <a:rPr sz="1600" spc="20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80" dirty="0">
                <a:solidFill>
                  <a:srgbClr val="0199EC"/>
                </a:solidFill>
                <a:latin typeface="Palatino Linotype"/>
                <a:cs typeface="Palatino Linotype"/>
              </a:rPr>
              <a:t>a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solidFill>
                  <a:srgbClr val="0199EC"/>
                </a:solidFill>
                <a:latin typeface="Palatino Linotype"/>
                <a:cs typeface="Palatino Linotype"/>
              </a:rPr>
              <a:t>NextCloud</a:t>
            </a:r>
            <a:r>
              <a:rPr sz="1600" spc="20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90" dirty="0">
                <a:solidFill>
                  <a:srgbClr val="0199EC"/>
                </a:solidFill>
                <a:latin typeface="Palatino Linotype"/>
                <a:cs typeface="Palatino Linotype"/>
              </a:rPr>
              <a:t>stack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50" dirty="0">
                <a:solidFill>
                  <a:srgbClr val="0199EC"/>
                </a:solidFill>
                <a:latin typeface="Palatino Linotype"/>
                <a:cs typeface="Palatino Linotype"/>
              </a:rPr>
              <a:t>using</a:t>
            </a:r>
            <a:r>
              <a:rPr sz="1600" spc="20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solidFill>
                  <a:srgbClr val="0199EC"/>
                </a:solidFill>
                <a:latin typeface="Palatino Linotype"/>
                <a:cs typeface="Palatino Linotype"/>
              </a:rPr>
              <a:t>Docker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sz="1600" spc="-10" dirty="0">
                <a:solidFill>
                  <a:srgbClr val="0199EC"/>
                </a:solidFill>
                <a:latin typeface="Palatino Linotype"/>
                <a:cs typeface="Palatino Linotype"/>
              </a:rPr>
              <a:t>Compose</a:t>
            </a:r>
            <a:endParaRPr sz="16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200" spc="10" dirty="0">
                <a:latin typeface="Gill Sans MT"/>
                <a:cs typeface="Gill Sans MT"/>
              </a:rPr>
              <a:t>NextCloud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an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awesome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open source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productivity platform.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Read</a:t>
            </a:r>
            <a:r>
              <a:rPr sz="1200" spc="20" dirty="0">
                <a:latin typeface="Gill Sans MT"/>
                <a:cs typeface="Gill Sans MT"/>
              </a:rPr>
              <a:t> more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about</a:t>
            </a:r>
            <a:r>
              <a:rPr sz="1200" spc="20" dirty="0">
                <a:latin typeface="Gill Sans MT"/>
                <a:cs typeface="Gill Sans MT"/>
              </a:rPr>
              <a:t> 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2"/>
              </a:rPr>
              <a:t>here</a:t>
            </a:r>
            <a:r>
              <a:rPr sz="1200" spc="-10" dirty="0">
                <a:latin typeface="Gill Sans MT"/>
                <a:cs typeface="Gill Sans MT"/>
              </a:rPr>
              <a:t>.</a:t>
            </a:r>
            <a:endParaRPr sz="12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Download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nextcloud.zip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from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Blackboard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Module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4</a:t>
            </a:r>
            <a:r>
              <a:rPr sz="1200" spc="85" dirty="0">
                <a:latin typeface="Gill Sans MT"/>
                <a:cs typeface="Gill Sans MT"/>
              </a:rPr>
              <a:t> and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extract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content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directory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your</a:t>
            </a:r>
            <a:r>
              <a:rPr sz="1200" spc="8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host.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sz="1200" spc="65" dirty="0">
                <a:latin typeface="Gill Sans MT"/>
                <a:cs typeface="Gill Sans MT"/>
              </a:rPr>
              <a:t>Change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directory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where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extracted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context</a:t>
            </a:r>
            <a:r>
              <a:rPr sz="1200" spc="65" dirty="0">
                <a:latin typeface="Gill Sans MT"/>
                <a:cs typeface="Gill Sans MT"/>
              </a:rPr>
              <a:t> of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`nextcloud.zip`.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Open</a:t>
            </a:r>
            <a:r>
              <a:rPr sz="1200" spc="1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4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1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instructions</a:t>
            </a:r>
            <a:r>
              <a:rPr sz="1200" spc="145" dirty="0">
                <a:latin typeface="Gill Sans MT"/>
                <a:cs typeface="Gill Sans MT"/>
              </a:rPr>
              <a:t> </a:t>
            </a:r>
            <a:r>
              <a:rPr sz="1200" u="heavy" spc="-2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3"/>
              </a:rPr>
              <a:t>here</a:t>
            </a:r>
            <a:r>
              <a:rPr sz="1200" spc="-20" dirty="0">
                <a:latin typeface="Gill Sans MT"/>
                <a:cs typeface="Gill Sans MT"/>
              </a:rPr>
              <a:t>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Review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10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YAML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ﬁle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10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follow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instructions</a:t>
            </a:r>
            <a:r>
              <a:rPr sz="1200" spc="10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start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stack.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spc="-20" dirty="0">
                <a:latin typeface="Gill Sans MT"/>
                <a:cs typeface="Gill Sans MT"/>
              </a:rPr>
              <a:t>Try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accessing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NextCloud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4"/>
              </a:rPr>
              <a:t>http://</a:t>
            </a:r>
            <a:r>
              <a:rPr lang="en-AU"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 localhost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spc="-20" dirty="0">
                <a:latin typeface="Gill Sans MT"/>
                <a:cs typeface="Gill Sans MT"/>
              </a:rPr>
              <a:t>Try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accessing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Portainer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http://</a:t>
            </a:r>
            <a:r>
              <a:rPr lang="en-AU"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 localhost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</a:rPr>
              <a:t>:9000</a:t>
            </a:r>
            <a:r>
              <a:rPr sz="1200" spc="65" dirty="0">
                <a:solidFill>
                  <a:srgbClr val="1154CC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use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UI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inspect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Nextcloud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stack.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Use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CLI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inspect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Nextcloud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services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understand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about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volumes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uses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network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setup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(port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mapping,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etc)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options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such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45" dirty="0">
                <a:latin typeface="Gill Sans MT"/>
                <a:cs typeface="Gill Sans MT"/>
              </a:rPr>
              <a:t>as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`restart`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r>
              <a:rPr sz="1200" dirty="0">
                <a:latin typeface="Gill Sans MT"/>
                <a:cs typeface="Gill Sans MT"/>
              </a:rPr>
              <a:t>Use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CLI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interact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stack</a:t>
            </a:r>
            <a:endParaRPr sz="1200" dirty="0">
              <a:latin typeface="Gill Sans MT"/>
              <a:cs typeface="Gill Sans MT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Tail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standard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out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40" dirty="0">
                <a:latin typeface="Gill Sans MT"/>
                <a:cs typeface="Gill Sans MT"/>
              </a:rPr>
              <a:t>log</a:t>
            </a:r>
            <a:endParaRPr sz="1200" dirty="0">
              <a:latin typeface="Gill Sans MT"/>
              <a:cs typeface="Gill Sans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docker-compose logs -</a:t>
            </a:r>
            <a:r>
              <a:rPr sz="1200" spc="-50" dirty="0">
                <a:latin typeface="Comic Sans MS"/>
                <a:cs typeface="Comic Sans MS"/>
              </a:rPr>
              <a:t>f</a:t>
            </a:r>
            <a:endParaRPr sz="1200" dirty="0">
              <a:latin typeface="Comic Sans MS"/>
              <a:cs typeface="Comic Sans MS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spc="55" dirty="0">
                <a:latin typeface="Gill Sans MT"/>
                <a:cs typeface="Gill Sans MT"/>
              </a:rPr>
              <a:t>Stop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all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services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of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stack</a:t>
            </a:r>
            <a:endParaRPr sz="1200" dirty="0">
              <a:latin typeface="Gill Sans MT"/>
              <a:cs typeface="Gill Sans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docker-compose </a:t>
            </a:r>
            <a:r>
              <a:rPr sz="1200" spc="-20" dirty="0">
                <a:latin typeface="Comic Sans MS"/>
                <a:cs typeface="Comic Sans MS"/>
              </a:rPr>
              <a:t>stop</a:t>
            </a:r>
            <a:endParaRPr sz="1200" dirty="0">
              <a:latin typeface="Comic Sans MS"/>
              <a:cs typeface="Comic Sans MS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dirty="0">
                <a:latin typeface="Gill Sans MT"/>
                <a:cs typeface="Gill Sans MT"/>
              </a:rPr>
              <a:t>Start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all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services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of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stack</a:t>
            </a:r>
            <a:endParaRPr sz="1200" dirty="0">
              <a:latin typeface="Gill Sans MT"/>
              <a:cs typeface="Gill Sans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docker-compose </a:t>
            </a:r>
            <a:r>
              <a:rPr sz="1200" spc="-10" dirty="0">
                <a:latin typeface="Comic Sans MS"/>
                <a:cs typeface="Comic Sans MS"/>
              </a:rPr>
              <a:t>start</a:t>
            </a:r>
            <a:endParaRPr sz="1200" dirty="0">
              <a:latin typeface="Comic Sans MS"/>
              <a:cs typeface="Comic Sans MS"/>
            </a:endParaRPr>
          </a:p>
          <a:p>
            <a:pPr marL="926465" lvl="1" indent="-227965">
              <a:lnSpc>
                <a:spcPct val="100000"/>
              </a:lnSpc>
              <a:spcBef>
                <a:spcPts val="434"/>
              </a:spcBef>
              <a:buFont typeface="Arial"/>
              <a:buChar char="○"/>
              <a:tabLst>
                <a:tab pos="926465" algn="l"/>
              </a:tabLst>
            </a:pPr>
            <a:r>
              <a:rPr sz="1200" spc="55" dirty="0">
                <a:latin typeface="Gill Sans MT"/>
                <a:cs typeface="Gill Sans MT"/>
              </a:rPr>
              <a:t>Stop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remove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all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services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of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stack</a:t>
            </a:r>
            <a:endParaRPr sz="1200" dirty="0">
              <a:latin typeface="Gill Sans MT"/>
              <a:cs typeface="Gill Sans MT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docker-compose </a:t>
            </a:r>
            <a:r>
              <a:rPr sz="1200" spc="-20" dirty="0">
                <a:latin typeface="Comic Sans MS"/>
                <a:cs typeface="Comic Sans MS"/>
              </a:rPr>
              <a:t>down</a:t>
            </a:r>
            <a:endParaRPr sz="1200" dirty="0">
              <a:latin typeface="Comic Sans MS"/>
              <a:cs typeface="Comic Sans MS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 startAt="9"/>
              <a:tabLst>
                <a:tab pos="469265" algn="l"/>
              </a:tabLst>
            </a:pPr>
            <a:r>
              <a:rPr sz="1200" spc="65" dirty="0">
                <a:latin typeface="Gill Sans MT"/>
                <a:cs typeface="Gill Sans MT"/>
              </a:rPr>
              <a:t>Change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Compose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ﬁle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make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`nc`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service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dependent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`db`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service.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See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5"/>
              </a:rPr>
              <a:t>here</a:t>
            </a:r>
            <a:r>
              <a:rPr sz="1200" spc="15" dirty="0">
                <a:solidFill>
                  <a:srgbClr val="1154CC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syntax.</a:t>
            </a:r>
            <a:endParaRPr sz="1200" dirty="0">
              <a:latin typeface="Gill Sans MT"/>
              <a:cs typeface="Gill Sans MT"/>
            </a:endParaRPr>
          </a:p>
          <a:p>
            <a:pPr marL="469900" marR="5080">
              <a:lnSpc>
                <a:spcPct val="130200"/>
              </a:lnSpc>
            </a:pPr>
            <a:r>
              <a:rPr sz="1200" dirty="0">
                <a:latin typeface="Gill Sans MT"/>
                <a:cs typeface="Gill Sans MT"/>
              </a:rPr>
              <a:t>Re-deploy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observe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`db`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service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will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start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before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`nc`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service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(Hint: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use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`docker-</a:t>
            </a:r>
            <a:r>
              <a:rPr sz="1200" spc="40" dirty="0">
                <a:latin typeface="Gill Sans MT"/>
                <a:cs typeface="Gill Sans MT"/>
              </a:rPr>
              <a:t>compose </a:t>
            </a:r>
            <a:r>
              <a:rPr sz="1200" spc="90" dirty="0">
                <a:latin typeface="Gill Sans MT"/>
                <a:cs typeface="Gill Sans MT"/>
              </a:rPr>
              <a:t>logs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-f`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observe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starting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sequence).</a:t>
            </a:r>
            <a:endParaRPr sz="1200" dirty="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3925" y="784479"/>
            <a:ext cx="5943599" cy="47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6765" y="428879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65" dirty="0">
                <a:solidFill>
                  <a:srgbClr val="ED0000"/>
                </a:solidFill>
                <a:latin typeface="Palatino Linotype"/>
                <a:cs typeface="Palatino Linotype"/>
              </a:rPr>
              <a:t>2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045971"/>
            <a:ext cx="8120380" cy="3013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solidFill>
                  <a:srgbClr val="0199EC"/>
                </a:solidFill>
                <a:latin typeface="Palatino Linotype"/>
                <a:cs typeface="Palatino Linotype"/>
              </a:rPr>
              <a:t>Task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lang="en-AU"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4</a:t>
            </a:r>
            <a:r>
              <a:rPr sz="1600" spc="20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lang="en-AU" sz="1600" spc="85" dirty="0">
                <a:solidFill>
                  <a:srgbClr val="0199EC"/>
                </a:solidFill>
                <a:latin typeface="Palatino Linotype"/>
                <a:cs typeface="Palatino Linotype"/>
              </a:rPr>
              <a:t>–</a:t>
            </a:r>
            <a:r>
              <a:rPr sz="1600" spc="15" dirty="0">
                <a:solidFill>
                  <a:srgbClr val="0199EC"/>
                </a:solidFill>
                <a:latin typeface="Palatino Linotype"/>
                <a:cs typeface="Palatino Linotype"/>
              </a:rPr>
              <a:t> </a:t>
            </a:r>
            <a:r>
              <a:rPr lang="en-AU" sz="1600" dirty="0">
                <a:solidFill>
                  <a:srgbClr val="0199EC"/>
                </a:solidFill>
                <a:latin typeface="Palatino Linotype"/>
                <a:cs typeface="Palatino Linotype"/>
              </a:rPr>
              <a:t>Deploy a stack to a Swarm</a:t>
            </a:r>
            <a:endParaRPr sz="160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en-AU" sz="1200" spc="10" dirty="0">
                <a:latin typeface="Gill Sans MT"/>
                <a:cs typeface="Gill Sans MT"/>
              </a:rPr>
              <a:t>Deploy a complete application stack to the swarm</a:t>
            </a:r>
            <a:r>
              <a:rPr sz="1200" spc="20" dirty="0">
                <a:latin typeface="Gill Sans MT"/>
                <a:cs typeface="Gill Sans MT"/>
              </a:rPr>
              <a:t>.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Read</a:t>
            </a:r>
            <a:r>
              <a:rPr sz="1200" spc="20" dirty="0">
                <a:latin typeface="Gill Sans MT"/>
                <a:cs typeface="Gill Sans MT"/>
              </a:rPr>
              <a:t> more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about</a:t>
            </a:r>
            <a:r>
              <a:rPr sz="1200" spc="20" dirty="0">
                <a:latin typeface="Gill Sans MT"/>
                <a:cs typeface="Gill Sans MT"/>
              </a:rPr>
              <a:t> 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2"/>
              </a:rPr>
              <a:t>here</a:t>
            </a:r>
            <a:r>
              <a:rPr sz="1200" spc="-10" dirty="0">
                <a:latin typeface="Gill Sans MT"/>
                <a:cs typeface="Gill Sans MT"/>
              </a:rPr>
              <a:t>.</a:t>
            </a:r>
            <a:endParaRPr sz="12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lang="en-AU" sz="1200" dirty="0">
                <a:latin typeface="Gill Sans MT"/>
                <a:cs typeface="Gill Sans MT"/>
              </a:rPr>
              <a:t>Set up a Docker registry</a:t>
            </a:r>
          </a:p>
          <a:p>
            <a:pPr marL="241300" lvl="1">
              <a:spcBef>
                <a:spcPts val="5"/>
              </a:spcBef>
              <a:tabLst>
                <a:tab pos="469265" algn="l"/>
              </a:tabLst>
            </a:pPr>
            <a:endParaRPr lang="en-AU"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lang="en-AU" sz="1200" spc="65" dirty="0">
                <a:latin typeface="Gill Sans MT"/>
                <a:cs typeface="Gill Sans MT"/>
              </a:rPr>
              <a:t>Create the example application</a:t>
            </a: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endParaRPr lang="en-AU" sz="1200" spc="65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lang="en-AU" sz="1200" dirty="0">
                <a:latin typeface="Gill Sans MT"/>
                <a:cs typeface="Gill Sans MT"/>
              </a:rPr>
              <a:t>Test the app with Compose</a:t>
            </a: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endParaRPr lang="en-AU"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lang="en-AU" sz="1200" dirty="0">
                <a:latin typeface="Gill Sans MT"/>
                <a:cs typeface="Gill Sans MT"/>
              </a:rPr>
              <a:t>Push the generated image to the registry</a:t>
            </a: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endParaRPr lang="en-AU"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469265" algn="l"/>
              </a:tabLst>
            </a:pPr>
            <a:r>
              <a:rPr lang="en-AU" sz="1200" dirty="0">
                <a:latin typeface="Gill Sans MT"/>
                <a:cs typeface="Gill Sans MT"/>
              </a:rPr>
              <a:t>Deploy the stack to the swarm</a:t>
            </a: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469265" algn="l"/>
              </a:tabLst>
            </a:pPr>
            <a:endParaRPr sz="1200" dirty="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784479"/>
            <a:ext cx="5943599" cy="4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612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8551" y="428879"/>
            <a:ext cx="108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0" dirty="0">
                <a:solidFill>
                  <a:srgbClr val="ED0000"/>
                </a:solidFill>
                <a:latin typeface="Palatino Linotype"/>
                <a:cs typeface="Palatino Linotype"/>
              </a:rPr>
              <a:t>3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31725"/>
            <a:ext cx="8207375" cy="2553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80" dirty="0">
                <a:solidFill>
                  <a:srgbClr val="029AEC"/>
                </a:solidFill>
                <a:latin typeface="Palatino Linotype"/>
                <a:cs typeface="Palatino Linotype"/>
              </a:rPr>
              <a:t>Task</a:t>
            </a:r>
            <a:r>
              <a:rPr sz="1600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lang="en-AU" sz="1600" dirty="0">
                <a:solidFill>
                  <a:srgbClr val="029AEC"/>
                </a:solidFill>
                <a:latin typeface="Palatino Linotype"/>
                <a:cs typeface="Palatino Linotype"/>
              </a:rPr>
              <a:t>5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85" dirty="0">
                <a:solidFill>
                  <a:srgbClr val="029AEC"/>
                </a:solidFill>
                <a:latin typeface="Palatino Linotype"/>
                <a:cs typeface="Palatino Linotype"/>
              </a:rPr>
              <a:t>-</a:t>
            </a:r>
            <a:r>
              <a:rPr sz="1600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-10" dirty="0">
                <a:solidFill>
                  <a:srgbClr val="029AEC"/>
                </a:solidFill>
                <a:latin typeface="Palatino Linotype"/>
                <a:cs typeface="Palatino Linotype"/>
              </a:rPr>
              <a:t>Deploy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55" dirty="0">
                <a:solidFill>
                  <a:srgbClr val="029AEC"/>
                </a:solidFill>
                <a:latin typeface="Palatino Linotype"/>
                <a:cs typeface="Palatino Linotype"/>
              </a:rPr>
              <a:t>the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dirty="0">
                <a:solidFill>
                  <a:srgbClr val="029AEC"/>
                </a:solidFill>
                <a:latin typeface="Palatino Linotype"/>
                <a:cs typeface="Palatino Linotype"/>
              </a:rPr>
              <a:t>NextCloud </a:t>
            </a:r>
            <a:r>
              <a:rPr sz="1600" spc="90" dirty="0">
                <a:solidFill>
                  <a:srgbClr val="029AEC"/>
                </a:solidFill>
                <a:latin typeface="Palatino Linotype"/>
                <a:cs typeface="Palatino Linotype"/>
              </a:rPr>
              <a:t>stack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50" dirty="0">
                <a:solidFill>
                  <a:srgbClr val="029AEC"/>
                </a:solidFill>
                <a:latin typeface="Palatino Linotype"/>
                <a:cs typeface="Palatino Linotype"/>
              </a:rPr>
              <a:t>using</a:t>
            </a:r>
            <a:r>
              <a:rPr sz="1600" dirty="0">
                <a:solidFill>
                  <a:srgbClr val="029AEC"/>
                </a:solidFill>
                <a:latin typeface="Palatino Linotype"/>
                <a:cs typeface="Palatino Linotype"/>
              </a:rPr>
              <a:t> Docker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80" dirty="0">
                <a:solidFill>
                  <a:srgbClr val="029AEC"/>
                </a:solidFill>
                <a:latin typeface="Palatino Linotype"/>
                <a:cs typeface="Palatino Linotype"/>
              </a:rPr>
              <a:t>Swarm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75" dirty="0">
                <a:solidFill>
                  <a:srgbClr val="029AEC"/>
                </a:solidFill>
                <a:latin typeface="Palatino Linotype"/>
                <a:cs typeface="Palatino Linotype"/>
              </a:rPr>
              <a:t>across</a:t>
            </a:r>
            <a:r>
              <a:rPr sz="1600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80" dirty="0">
                <a:solidFill>
                  <a:srgbClr val="029AEC"/>
                </a:solidFill>
                <a:latin typeface="Palatino Linotype"/>
                <a:cs typeface="Palatino Linotype"/>
              </a:rPr>
              <a:t>2</a:t>
            </a:r>
            <a:r>
              <a:rPr sz="1600" spc="5" dirty="0">
                <a:solidFill>
                  <a:srgbClr val="029AEC"/>
                </a:solidFill>
                <a:latin typeface="Palatino Linotype"/>
                <a:cs typeface="Palatino Linotype"/>
              </a:rPr>
              <a:t> </a:t>
            </a:r>
            <a:r>
              <a:rPr sz="1600" spc="50" dirty="0">
                <a:solidFill>
                  <a:srgbClr val="029AEC"/>
                </a:solidFill>
                <a:latin typeface="Palatino Linotype"/>
                <a:cs typeface="Palatino Linotype"/>
              </a:rPr>
              <a:t>servers</a:t>
            </a:r>
            <a:endParaRPr sz="1600" dirty="0">
              <a:latin typeface="Palatino Linotype"/>
              <a:cs typeface="Palatino Linotype"/>
            </a:endParaRPr>
          </a:p>
          <a:p>
            <a:pPr marL="469265" indent="-227965">
              <a:lnSpc>
                <a:spcPct val="100000"/>
              </a:lnSpc>
              <a:spcBef>
                <a:spcPts val="1570"/>
              </a:spcBef>
              <a:buAutoNum type="arabicPeriod"/>
              <a:tabLst>
                <a:tab pos="469265" algn="l"/>
              </a:tabLst>
            </a:pPr>
            <a:r>
              <a:rPr sz="1200" spc="80" dirty="0">
                <a:latin typeface="Gill Sans MT"/>
                <a:cs typeface="Gill Sans MT"/>
              </a:rPr>
              <a:t>Make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sure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start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Linux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VMs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have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they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communicate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each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other.</a:t>
            </a:r>
            <a:endParaRPr sz="1200" dirty="0">
              <a:latin typeface="Gill Sans MT"/>
              <a:cs typeface="Gill Sans MT"/>
            </a:endParaRPr>
          </a:p>
          <a:p>
            <a:pPr marL="469900" marR="26034" indent="-228600">
              <a:lnSpc>
                <a:spcPts val="1880"/>
              </a:lnSpc>
              <a:spcBef>
                <a:spcPts val="10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Gill Sans MT"/>
                <a:cs typeface="Gill Sans MT"/>
              </a:rPr>
              <a:t>There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 </a:t>
            </a:r>
            <a:r>
              <a:rPr sz="1200" spc="55" dirty="0">
                <a:latin typeface="Gill Sans MT"/>
                <a:cs typeface="Gill Sans MT"/>
              </a:rPr>
              <a:t>need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install</a:t>
            </a:r>
            <a:r>
              <a:rPr sz="1200" dirty="0">
                <a:latin typeface="Gill Sans MT"/>
                <a:cs typeface="Gill Sans MT"/>
              </a:rPr>
              <a:t> Docker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Swarm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145" dirty="0">
                <a:latin typeface="Gill Sans MT"/>
                <a:cs typeface="Gill Sans MT"/>
              </a:rPr>
              <a:t>as</a:t>
            </a:r>
            <a:r>
              <a:rPr sz="1200" dirty="0">
                <a:latin typeface="Gill Sans MT"/>
                <a:cs typeface="Gill Sans MT"/>
              </a:rPr>
              <a:t> it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included</a:t>
            </a:r>
            <a:r>
              <a:rPr sz="1200" dirty="0">
                <a:latin typeface="Gill Sans MT"/>
                <a:cs typeface="Gill Sans MT"/>
              </a:rPr>
              <a:t> with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 </a:t>
            </a:r>
            <a:r>
              <a:rPr sz="1200" spc="70" dirty="0">
                <a:latin typeface="Gill Sans MT"/>
                <a:cs typeface="Gill Sans MT"/>
              </a:rPr>
              <a:t>Engine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installed</a:t>
            </a:r>
            <a:r>
              <a:rPr sz="1200" dirty="0">
                <a:latin typeface="Gill Sans MT"/>
                <a:cs typeface="Gill Sans MT"/>
              </a:rPr>
              <a:t> in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Lab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1.</a:t>
            </a:r>
            <a:r>
              <a:rPr sz="1200" dirty="0">
                <a:latin typeface="Gill Sans MT"/>
                <a:cs typeface="Gill Sans MT"/>
              </a:rPr>
              <a:t> Conﬁrm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by </a:t>
            </a:r>
            <a:r>
              <a:rPr sz="1200" spc="50" dirty="0">
                <a:latin typeface="Gill Sans MT"/>
                <a:cs typeface="Gill Sans MT"/>
              </a:rPr>
              <a:t>running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command</a:t>
            </a:r>
            <a:endParaRPr sz="12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295"/>
              </a:spcBef>
            </a:pPr>
            <a:r>
              <a:rPr sz="1200" dirty="0">
                <a:latin typeface="Comic Sans MS"/>
                <a:cs typeface="Comic Sans MS"/>
              </a:rPr>
              <a:t>docker </a:t>
            </a:r>
            <a:r>
              <a:rPr sz="1200" spc="-10" dirty="0">
                <a:latin typeface="Comic Sans MS"/>
                <a:cs typeface="Comic Sans MS"/>
              </a:rPr>
              <a:t>swarm</a:t>
            </a:r>
            <a:endParaRPr sz="1200" dirty="0">
              <a:latin typeface="Comic Sans MS"/>
              <a:cs typeface="Comic Sans MS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 startAt="3"/>
              <a:tabLst>
                <a:tab pos="469265" algn="l"/>
              </a:tabLst>
            </a:pPr>
            <a:r>
              <a:rPr sz="1200" spc="80" dirty="0">
                <a:latin typeface="Gill Sans MT"/>
                <a:cs typeface="Gill Sans MT"/>
              </a:rPr>
              <a:t>Make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sure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know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IP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address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of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each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server.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Use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`ip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a`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retrieve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IP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address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if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required.</a:t>
            </a:r>
            <a:endParaRPr sz="1200" dirty="0">
              <a:latin typeface="Gill Sans MT"/>
              <a:cs typeface="Gill Sans MT"/>
            </a:endParaRPr>
          </a:p>
          <a:p>
            <a:pPr marL="469265" indent="-227965">
              <a:lnSpc>
                <a:spcPct val="100000"/>
              </a:lnSpc>
              <a:spcBef>
                <a:spcPts val="434"/>
              </a:spcBef>
              <a:buAutoNum type="arabicPeriod" startAt="3"/>
              <a:tabLst>
                <a:tab pos="469265" algn="l"/>
              </a:tabLst>
            </a:pPr>
            <a:r>
              <a:rPr sz="1200" spc="70" dirty="0">
                <a:latin typeface="Gill Sans MT"/>
                <a:cs typeface="Gill Sans MT"/>
              </a:rPr>
              <a:t>Pick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server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become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Swarm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leader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(node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1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example).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Then,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init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Swarm</a:t>
            </a:r>
            <a:endParaRPr sz="1200" dirty="0">
              <a:latin typeface="Gill Sans MT"/>
              <a:cs typeface="Gill Sans MT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swarm init --advertise-addr &lt;MANAGER-</a:t>
            </a:r>
            <a:r>
              <a:rPr sz="1200" spc="-25" dirty="0">
                <a:latin typeface="Comic Sans MS"/>
                <a:cs typeface="Comic Sans MS"/>
              </a:rPr>
              <a:t>IP&gt;</a:t>
            </a:r>
            <a:endParaRPr sz="1200" dirty="0">
              <a:latin typeface="Comic Sans MS"/>
              <a:cs typeface="Comic Sans MS"/>
            </a:endParaRPr>
          </a:p>
          <a:p>
            <a:pPr marL="469900" marR="5080" indent="-228600">
              <a:lnSpc>
                <a:spcPct val="130200"/>
              </a:lnSpc>
              <a:buAutoNum type="arabicPeriod" startAt="5"/>
              <a:tabLst>
                <a:tab pos="469900" algn="l"/>
              </a:tabLst>
            </a:pPr>
            <a:r>
              <a:rPr sz="1200" spc="65" dirty="0">
                <a:latin typeface="Gill Sans MT"/>
                <a:cs typeface="Gill Sans MT"/>
              </a:rPr>
              <a:t>If</a:t>
            </a:r>
            <a:r>
              <a:rPr sz="1200" spc="20" dirty="0">
                <a:latin typeface="Gill Sans MT"/>
                <a:cs typeface="Gill Sans MT"/>
              </a:rPr>
              <a:t> 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initiation </a:t>
            </a:r>
            <a:r>
              <a:rPr sz="1200" spc="65" dirty="0">
                <a:latin typeface="Gill Sans MT"/>
                <a:cs typeface="Gill Sans MT"/>
              </a:rPr>
              <a:t>succeeded,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you will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presented with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 instruction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how </a:t>
            </a:r>
            <a:r>
              <a:rPr sz="1200" spc="10" dirty="0">
                <a:latin typeface="Gill Sans MT"/>
                <a:cs typeface="Gill Sans MT"/>
              </a:rPr>
              <a:t>to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join new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nodes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to</a:t>
            </a:r>
            <a:r>
              <a:rPr sz="1200" spc="20" dirty="0">
                <a:latin typeface="Gill Sans MT"/>
                <a:cs typeface="Gill Sans MT"/>
              </a:rPr>
              <a:t> 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newly </a:t>
            </a:r>
            <a:r>
              <a:rPr sz="1200" spc="-10" dirty="0">
                <a:latin typeface="Gill Sans MT"/>
                <a:cs typeface="Gill Sans MT"/>
              </a:rPr>
              <a:t>created </a:t>
            </a:r>
            <a:r>
              <a:rPr sz="1200" spc="65" dirty="0">
                <a:latin typeface="Gill Sans MT"/>
                <a:cs typeface="Gill Sans MT"/>
              </a:rPr>
              <a:t>Swarm</a:t>
            </a:r>
            <a:endParaRPr sz="12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5993386"/>
            <a:ext cx="7564755" cy="739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30200"/>
              </a:lnSpc>
              <a:spcBef>
                <a:spcPts val="100"/>
              </a:spcBef>
            </a:pPr>
            <a:r>
              <a:rPr sz="1200" spc="60" dirty="0">
                <a:latin typeface="Gill Sans MT"/>
                <a:cs typeface="Gill Sans MT"/>
              </a:rPr>
              <a:t>6.</a:t>
            </a:r>
            <a:r>
              <a:rPr sz="1200" spc="180" dirty="0">
                <a:latin typeface="Gill Sans MT"/>
                <a:cs typeface="Gill Sans MT"/>
              </a:rPr>
              <a:t>  </a:t>
            </a:r>
            <a:r>
              <a:rPr sz="1200" spc="-65" dirty="0">
                <a:latin typeface="Gill Sans MT"/>
                <a:cs typeface="Gill Sans MT"/>
              </a:rPr>
              <a:t>On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worker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(node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2),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execute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the`docker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swarm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join`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command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output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Step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5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join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60" dirty="0">
                <a:latin typeface="Gill Sans MT"/>
                <a:cs typeface="Gill Sans MT"/>
              </a:rPr>
              <a:t>Swarm.</a:t>
            </a:r>
            <a:endParaRPr sz="1200">
              <a:latin typeface="Gill Sans MT"/>
              <a:cs typeface="Gill Sans MT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swarm join --token &lt;TOKEN&gt; &lt;MANAGER-</a:t>
            </a:r>
            <a:r>
              <a:rPr sz="1200" spc="-10" dirty="0">
                <a:latin typeface="Comic Sans MS"/>
                <a:cs typeface="Comic Sans MS"/>
              </a:rPr>
              <a:t>IP:PORT&gt;</a:t>
            </a:r>
            <a:endParaRPr sz="12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784479"/>
            <a:ext cx="5943599" cy="476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0650" y="3952875"/>
            <a:ext cx="82296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428879"/>
            <a:ext cx="8026400" cy="456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b="1" spc="75" dirty="0">
                <a:solidFill>
                  <a:srgbClr val="ED0000"/>
                </a:solidFill>
                <a:latin typeface="Palatino Linotype"/>
                <a:cs typeface="Palatino Linotype"/>
              </a:rPr>
              <a:t>4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</a:pPr>
            <a:endParaRPr sz="210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buAutoNum type="arabicPeriod" startAt="7"/>
              <a:tabLst>
                <a:tab pos="240665" algn="l"/>
              </a:tabLst>
            </a:pPr>
            <a:r>
              <a:rPr sz="1200" spc="-65" dirty="0">
                <a:latin typeface="Gill Sans MT"/>
                <a:cs typeface="Gill Sans MT"/>
              </a:rPr>
              <a:t>On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Manager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node,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you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should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now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see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nodes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Swarm.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Note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1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should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Leader.</a:t>
            </a:r>
            <a:endParaRPr sz="1200">
              <a:latin typeface="Gill Sans MT"/>
              <a:cs typeface="Gill Sans MT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node </a:t>
            </a:r>
            <a:r>
              <a:rPr sz="1200" spc="-25" dirty="0">
                <a:latin typeface="Comic Sans MS"/>
                <a:cs typeface="Comic Sans MS"/>
              </a:rPr>
              <a:t>ls</a:t>
            </a:r>
            <a:endParaRPr sz="1200">
              <a:latin typeface="Comic Sans MS"/>
              <a:cs typeface="Comic Sans MS"/>
            </a:endParaRPr>
          </a:p>
          <a:p>
            <a:pPr marL="241300" marR="283210" indent="-228600">
              <a:lnSpc>
                <a:spcPct val="130200"/>
              </a:lnSpc>
              <a:buAutoNum type="arabicPeriod" startAt="8"/>
              <a:tabLst>
                <a:tab pos="241300" algn="l"/>
              </a:tabLst>
            </a:pP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this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exercise,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would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like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deploy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service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nextcloud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app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1.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To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do </a:t>
            </a:r>
            <a:r>
              <a:rPr sz="1200" dirty="0">
                <a:latin typeface="Gill Sans MT"/>
                <a:cs typeface="Gill Sans MT"/>
              </a:rPr>
              <a:t>that,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let's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give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nodes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some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labels.</a:t>
            </a:r>
            <a:endParaRPr sz="1200">
              <a:latin typeface="Gill Sans MT"/>
              <a:cs typeface="Gill Sans MT"/>
            </a:endParaRPr>
          </a:p>
          <a:p>
            <a:pPr marL="241300" marR="4008120">
              <a:lnSpc>
                <a:spcPct val="130200"/>
              </a:lnSpc>
            </a:pPr>
            <a:r>
              <a:rPr sz="1200" dirty="0">
                <a:latin typeface="Comic Sans MS"/>
                <a:cs typeface="Comic Sans MS"/>
              </a:rPr>
              <a:t>docker node update --label-add nc=true </a:t>
            </a:r>
            <a:r>
              <a:rPr sz="1200" spc="-10" dirty="0">
                <a:latin typeface="Comic Sans MS"/>
                <a:cs typeface="Comic Sans MS"/>
              </a:rPr>
              <a:t>node1</a:t>
            </a:r>
            <a:r>
              <a:rPr sz="1200" spc="500" dirty="0">
                <a:latin typeface="Comic Sans MS"/>
                <a:cs typeface="Comic Sans MS"/>
              </a:rPr>
              <a:t> </a:t>
            </a:r>
            <a:r>
              <a:rPr sz="1200" dirty="0">
                <a:latin typeface="Comic Sans MS"/>
                <a:cs typeface="Comic Sans MS"/>
              </a:rPr>
              <a:t>docker node update --label-add database=true </a:t>
            </a:r>
            <a:r>
              <a:rPr sz="1200" spc="-10" dirty="0">
                <a:latin typeface="Comic Sans MS"/>
                <a:cs typeface="Comic Sans MS"/>
              </a:rPr>
              <a:t>node2</a:t>
            </a:r>
            <a:endParaRPr sz="1200">
              <a:latin typeface="Comic Sans MS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9"/>
              <a:tabLst>
                <a:tab pos="240665" algn="l"/>
              </a:tabLst>
            </a:pPr>
            <a:r>
              <a:rPr sz="1200" spc="60" dirty="0">
                <a:latin typeface="Gill Sans MT"/>
                <a:cs typeface="Gill Sans MT"/>
              </a:rPr>
              <a:t>Inspect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node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make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sure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labels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are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assigned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correctly</a:t>
            </a:r>
            <a:endParaRPr sz="1200">
              <a:latin typeface="Gill Sans MT"/>
              <a:cs typeface="Gill Sans MT"/>
            </a:endParaRPr>
          </a:p>
          <a:p>
            <a:pPr marL="241300" marR="5883910">
              <a:lnSpc>
                <a:spcPct val="130200"/>
              </a:lnSpc>
            </a:pPr>
            <a:r>
              <a:rPr sz="1200" dirty="0">
                <a:latin typeface="Comic Sans MS"/>
                <a:cs typeface="Comic Sans MS"/>
              </a:rPr>
              <a:t>docker node inspect </a:t>
            </a:r>
            <a:r>
              <a:rPr sz="1200" spc="-10" dirty="0">
                <a:latin typeface="Comic Sans MS"/>
                <a:cs typeface="Comic Sans MS"/>
              </a:rPr>
              <a:t>node1 </a:t>
            </a:r>
            <a:r>
              <a:rPr sz="1200" dirty="0">
                <a:latin typeface="Comic Sans MS"/>
                <a:cs typeface="Comic Sans MS"/>
              </a:rPr>
              <a:t>docker node inspect </a:t>
            </a:r>
            <a:r>
              <a:rPr sz="1200" spc="-10" dirty="0">
                <a:latin typeface="Comic Sans MS"/>
                <a:cs typeface="Comic Sans MS"/>
              </a:rPr>
              <a:t>node2</a:t>
            </a:r>
            <a:endParaRPr sz="1200">
              <a:latin typeface="Comic Sans MS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10"/>
              <a:tabLst>
                <a:tab pos="240665" algn="l"/>
              </a:tabLst>
            </a:pPr>
            <a:r>
              <a:rPr sz="1200" spc="60" dirty="0">
                <a:latin typeface="Gill Sans MT"/>
                <a:cs typeface="Gill Sans MT"/>
              </a:rPr>
              <a:t>Inspect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context</a:t>
            </a:r>
            <a:r>
              <a:rPr sz="1200" spc="65" dirty="0">
                <a:latin typeface="Gill Sans MT"/>
                <a:cs typeface="Gill Sans MT"/>
              </a:rPr>
              <a:t> of </a:t>
            </a:r>
            <a:r>
              <a:rPr sz="1200" dirty="0">
                <a:latin typeface="Gill Sans MT"/>
                <a:cs typeface="Gill Sans MT"/>
              </a:rPr>
              <a:t>`nextcloud-</a:t>
            </a:r>
            <a:r>
              <a:rPr sz="1200" spc="50" dirty="0">
                <a:latin typeface="Gill Sans MT"/>
                <a:cs typeface="Gill Sans MT"/>
              </a:rPr>
              <a:t>swarm.yaml`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understand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`deploy`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instructions.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See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u="heavy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Gill Sans MT"/>
                <a:cs typeface="Gill Sans MT"/>
                <a:hlinkClick r:id="rId2"/>
              </a:rPr>
              <a:t>here</a:t>
            </a:r>
            <a:r>
              <a:rPr sz="1200" spc="65" dirty="0">
                <a:solidFill>
                  <a:srgbClr val="1154CC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reference.</a:t>
            </a:r>
            <a:endParaRPr sz="120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10"/>
              <a:tabLst>
                <a:tab pos="240665" algn="l"/>
              </a:tabLst>
            </a:pPr>
            <a:r>
              <a:rPr sz="1200" dirty="0">
                <a:latin typeface="Gill Sans MT"/>
                <a:cs typeface="Gill Sans MT"/>
              </a:rPr>
              <a:t>Deploy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stack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using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Docker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CLI</a:t>
            </a:r>
            <a:endParaRPr sz="1200">
              <a:latin typeface="Gill Sans MT"/>
              <a:cs typeface="Gill Sans MT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stack deploy -c nextcloud-swarm.yaml </a:t>
            </a:r>
            <a:r>
              <a:rPr sz="1200" spc="-25" dirty="0">
                <a:latin typeface="Comic Sans MS"/>
                <a:cs typeface="Comic Sans MS"/>
              </a:rPr>
              <a:t>nc</a:t>
            </a:r>
            <a:endParaRPr sz="1200">
              <a:latin typeface="Comic Sans MS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12"/>
              <a:tabLst>
                <a:tab pos="240665" algn="l"/>
              </a:tabLst>
            </a:pPr>
            <a:r>
              <a:rPr sz="1200" spc="-20" dirty="0">
                <a:latin typeface="Gill Sans MT"/>
                <a:cs typeface="Gill Sans MT"/>
              </a:rPr>
              <a:t>Try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accessing</a:t>
            </a:r>
            <a:r>
              <a:rPr sz="1200" dirty="0">
                <a:latin typeface="Gill Sans MT"/>
                <a:cs typeface="Gill Sans MT"/>
              </a:rPr>
              <a:t> NextCloud from http://&lt;NODE1-IP&gt;</a:t>
            </a:r>
            <a:r>
              <a:rPr sz="1200" spc="34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dirty="0">
                <a:latin typeface="Gill Sans MT"/>
                <a:cs typeface="Gill Sans MT"/>
              </a:rPr>
              <a:t> http://&lt;NODE2-</a:t>
            </a:r>
            <a:r>
              <a:rPr sz="1200" spc="-25" dirty="0">
                <a:latin typeface="Gill Sans MT"/>
                <a:cs typeface="Gill Sans MT"/>
              </a:rPr>
              <a:t>IP&gt;</a:t>
            </a:r>
            <a:endParaRPr sz="1200">
              <a:latin typeface="Gill Sans MT"/>
              <a:cs typeface="Gill Sans MT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12"/>
              <a:tabLst>
                <a:tab pos="240665" algn="l"/>
              </a:tabLst>
            </a:pPr>
            <a:r>
              <a:rPr sz="1200" spc="55" dirty="0">
                <a:latin typeface="Gill Sans MT"/>
                <a:cs typeface="Gill Sans MT"/>
              </a:rPr>
              <a:t>List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services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of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Swarm</a:t>
            </a:r>
            <a:endParaRPr sz="1200">
              <a:latin typeface="Gill Sans MT"/>
              <a:cs typeface="Gill Sans MT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service </a:t>
            </a:r>
            <a:r>
              <a:rPr sz="1200" spc="-25" dirty="0">
                <a:latin typeface="Comic Sans MS"/>
                <a:cs typeface="Comic Sans MS"/>
              </a:rPr>
              <a:t>ls</a:t>
            </a:r>
            <a:endParaRPr sz="1200">
              <a:latin typeface="Comic Sans MS"/>
              <a:cs typeface="Comic Sans MS"/>
            </a:endParaRPr>
          </a:p>
          <a:p>
            <a:pPr marL="240665" indent="-227965">
              <a:lnSpc>
                <a:spcPct val="100000"/>
              </a:lnSpc>
              <a:spcBef>
                <a:spcPts val="434"/>
              </a:spcBef>
              <a:buAutoNum type="arabicPeriod" startAt="14"/>
              <a:tabLst>
                <a:tab pos="240665" algn="l"/>
              </a:tabLst>
            </a:pPr>
            <a:r>
              <a:rPr sz="1200" dirty="0">
                <a:latin typeface="Gill Sans MT"/>
                <a:cs typeface="Gill Sans MT"/>
              </a:rPr>
              <a:t>Remove</a:t>
            </a:r>
            <a:r>
              <a:rPr sz="1200" spc="16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6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stack</a:t>
            </a:r>
            <a:endParaRPr sz="1200">
              <a:latin typeface="Gill Sans MT"/>
              <a:cs typeface="Gill Sans MT"/>
            </a:endParaRPr>
          </a:p>
          <a:p>
            <a:pPr marL="241300">
              <a:lnSpc>
                <a:spcPct val="100000"/>
              </a:lnSpc>
              <a:spcBef>
                <a:spcPts val="434"/>
              </a:spcBef>
            </a:pPr>
            <a:r>
              <a:rPr sz="1200" dirty="0">
                <a:latin typeface="Comic Sans MS"/>
                <a:cs typeface="Comic Sans MS"/>
              </a:rPr>
              <a:t>docker stack rm </a:t>
            </a:r>
            <a:r>
              <a:rPr sz="1200" spc="-25" dirty="0">
                <a:latin typeface="Comic Sans MS"/>
                <a:cs typeface="Comic Sans MS"/>
              </a:rPr>
              <a:t>nc</a:t>
            </a:r>
            <a:endParaRPr sz="1200">
              <a:latin typeface="Comic Sans MS"/>
              <a:cs typeface="Comic Sans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784479"/>
            <a:ext cx="5943599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54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834</Words>
  <Application>Microsoft Office PowerPoint</Application>
  <PresentationFormat>Custom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Comic Sans MS</vt:lpstr>
      <vt:lpstr>Gill Sans MT</vt:lpstr>
      <vt:lpstr>Palatino Linotype</vt:lpstr>
      <vt:lpstr>Office Theme</vt:lpstr>
      <vt:lpstr>PowerPoint Presentation</vt:lpstr>
      <vt:lpstr>Tasks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SecureDevOps-Lab4</dc:title>
  <cp:lastModifiedBy>Nur Haldar</cp:lastModifiedBy>
  <cp:revision>13</cp:revision>
  <cp:lastPrinted>2023-08-16T00:44:42Z</cp:lastPrinted>
  <dcterms:created xsi:type="dcterms:W3CDTF">2023-08-16T00:32:49Z</dcterms:created>
  <dcterms:modified xsi:type="dcterms:W3CDTF">2023-08-16T02:25:51Z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2023-08-16T00:00:00Z</vt:filetime>
  </property>
  <property fmtid="{D5CDD505-2E9C-101B-9397-08002B2CF9AE}" pid="3" name="LastSaved">
    <vt:filetime>2023-08-16T00:00:00Z</vt:filetime>
  </property>
  <property fmtid="{D5CDD505-2E9C-101B-9397-08002B2CF9AE}" pid="4" name="Producer">
    <vt:lpwstr>Skia/PDF m106 Google Docs Renderer</vt:lpwstr>
  </property>
</Properties>
</file>